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Multi-Agent Ensemble vs Single-Agent</a:t>
            </a:r>
            <a:br/>
            <a:r>
              <a:t>for Claim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t>A Statistical Analysis | Cambridge DIS Hackathon 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5029200"/>
            <a:ext cx="2743200" cy="45720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366F1"/>
                </a:solidFill>
              </a:defRPr>
            </a:pPr>
            <a:r>
              <a:t>Kepler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Fact verification requires distinguishing faithful representations from subtle mutations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Single-agent systems often exhibit overconfidence and miss nuanced distortions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Question: Can multi-agent debate improve verification quality?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We compare: 1 LLM call (single) vs 13 LLM calls (4 agents × 4 rounds)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Multi-Agent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Prosecutor: Adversarial agent seeking evidence of mutation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Defense: Charitable agent arguing for faithful interpretation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Epistemologist: Meta-cognitive agent quantifying uncertainty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Moderator: Synthesis agent aggregating final verdict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4 debate rounds with confidence updates based on arguments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Evaluation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840480"/>
            <a:ext cx="18288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Statistical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8229600" cy="1097280"/>
          </a:xfrm>
          <a:prstGeom prst="roundRect">
            <a:avLst/>
          </a:prstGeom>
          <a:solidFill>
            <a:srgbClr val="1E1B4B"/>
          </a:solidFill>
          <a:ln>
            <a:solidFill>
              <a:srgbClr val="373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Expected Calibration Error (ECE)</a:t>
            </a:r>
          </a:p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ECE = Σ (|Bm|/n) × |acc(Bm) - conf(Bm)|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Measures alignment between predicted confidence and actual accuracy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8229600" cy="1097280"/>
          </a:xfrm>
          <a:prstGeom prst="roundRect">
            <a:avLst/>
          </a:prstGeom>
          <a:solidFill>
            <a:srgbClr val="1E1B4B"/>
          </a:solidFill>
          <a:ln>
            <a:solidFill>
              <a:srgbClr val="373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Verdict Entropy</a:t>
            </a:r>
          </a:p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H(V) = -Σ p(v) × log₂(p(v))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Shannon entropy capturing uncertainty in system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114800"/>
            <a:ext cx="8229600" cy="1097280"/>
          </a:xfrm>
          <a:prstGeom prst="roundRect">
            <a:avLst/>
          </a:prstGeom>
          <a:solidFill>
            <a:srgbClr val="1E1B4B"/>
          </a:solidFill>
          <a:ln>
            <a:solidFill>
              <a:srgbClr val="373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Fleiss' Kappa</a:t>
            </a:r>
          </a:p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κ = (P̄ - P̄e) / (1 - P̄e)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Inter-rater agreement for multiple agents on categorical verdicts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Results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1188720"/>
          </a:xfrm>
          <a:prstGeom prst="roundRect">
            <a:avLst/>
          </a:prstGeom>
          <a:solidFill>
            <a:srgbClr val="1E1B4B"/>
          </a:solidFill>
          <a:ln>
            <a:solidFill>
              <a:srgbClr val="373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ECE</a:t>
            </a:r>
          </a:p>
          <a:p>
            <a:pPr algn="ctr">
              <a:defRPr sz="2800" b="1">
                <a:solidFill>
                  <a:srgbClr val="6366F1"/>
                </a:solidFill>
              </a:defRPr>
            </a:pPr>
            <a:r>
              <a:t>0.133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vs 0.267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371600"/>
            <a:ext cx="2560320" cy="1188720"/>
          </a:xfrm>
          <a:prstGeom prst="roundRect">
            <a:avLst/>
          </a:prstGeom>
          <a:solidFill>
            <a:srgbClr val="1E1B4B"/>
          </a:solidFill>
          <a:ln>
            <a:solidFill>
              <a:srgbClr val="373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Entropy</a:t>
            </a:r>
          </a:p>
          <a:p>
            <a:pPr algn="ctr">
              <a:defRPr sz="2800" b="1">
                <a:solidFill>
                  <a:srgbClr val="6366F1"/>
                </a:solidFill>
              </a:defRPr>
            </a:pPr>
            <a:r>
              <a:t>1.585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bits (max)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2560320" cy="1188720"/>
          </a:xfrm>
          <a:prstGeom prst="roundRect">
            <a:avLst/>
          </a:prstGeom>
          <a:solidFill>
            <a:srgbClr val="1E1B4B"/>
          </a:solidFill>
          <a:ln>
            <a:solidFill>
              <a:srgbClr val="373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Recall</a:t>
            </a:r>
          </a:p>
          <a:p>
            <a:pPr algn="ctr">
              <a:defRPr sz="2800" b="1">
                <a:solidFill>
                  <a:srgbClr val="6366F1"/>
                </a:solidFill>
              </a:defRPr>
            </a:pPr>
            <a:r>
              <a:t>2.67×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ECE improved by 50%: 0.267 → 0.133 (better calibration)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Verdict entropy: 0.918 → 1.585 bits (maximum = appropriate uncertainty)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Mutation detection recall: 2.67× improvement (3 → 8 types detected)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Inter-agent agreement: κ = 0.83 by final round (almost perfect)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Detailed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Single-Agent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Multi-Agent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Mean Confidence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93.3%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86.7%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-6.6%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0.267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0.133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-50%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Verdict Entropy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0.918 bits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1.585 bits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+73%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Mutations Detected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+167%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LLM Calls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+11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Calibration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931920" cy="4572000"/>
          </a:xfrm>
          <a:prstGeom prst="roundRect">
            <a:avLst/>
          </a:prstGeom>
          <a:solidFill>
            <a:srgbClr val="1E1B4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Single-Agent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Confidence: 93.3%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Accuracy: 66.7%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ECE = |93.3 - 66.7| = 0.267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❌ Overconfident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Case 0: 95% confident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but WRONG verdict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371600"/>
            <a:ext cx="3931920" cy="4572000"/>
          </a:xfrm>
          <a:prstGeom prst="roundRect">
            <a:avLst/>
          </a:prstGeom>
          <a:solidFill>
            <a:srgbClr val="1E1B4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Multi-Agent Ensemble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Confidence: 86.7%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Accuracy: 66.7%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ECE = 0.133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✓ Well-calibrated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Case 0: 80% confident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correctly marked AMBIGUOUS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Case Studies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840480"/>
            <a:ext cx="18288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Case 0: COVID Deaths - Numerical Boundary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931920" cy="1371600"/>
          </a:xfrm>
          <a:prstGeom prst="roundRect">
            <a:avLst/>
          </a:prstGeom>
          <a:solidFill>
            <a:srgbClr val="1E1B4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Single-Agent</a:t>
            </a:r>
          </a:p>
          <a:p>
            <a:pPr algn="ctr">
              <a:defRPr sz="2400" b="1">
                <a:solidFill>
                  <a:srgbClr val="10B981"/>
                </a:solidFill>
              </a:defRPr>
            </a:pPr>
            <a:r>
              <a:t>FAITHFUL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371600"/>
            <a:ext cx="3931920" cy="1371600"/>
          </a:xfrm>
          <a:prstGeom prst="roundRect">
            <a:avLst/>
          </a:prstGeom>
          <a:solidFill>
            <a:srgbClr val="1E1B4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Multi-Agent</a:t>
            </a:r>
          </a:p>
          <a:p>
            <a:pPr algn="ctr">
              <a:defRPr sz="2400" b="1">
                <a:solidFill>
                  <a:srgbClr val="F59E0B"/>
                </a:solidFill>
              </a:defRPr>
            </a:pPr>
            <a:r>
              <a:t>AMBIGUOUS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017520"/>
            <a:ext cx="822960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Key Insight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Single-agent missed the subtle shift from 'more than 14,500' (lower bound) to 'less than 14,550' (upper bound). This framing change caps the death toll rather than emphasizing the minimum. Multi-agent's Prosecutor caught this, and after 4 rounds of debate, correctly concluded: genuinely ambiguous.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Case 2: Badmotorfinger - Sales Figures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931920" cy="1371600"/>
          </a:xfrm>
          <a:prstGeom prst="roundRect">
            <a:avLst/>
          </a:prstGeom>
          <a:solidFill>
            <a:srgbClr val="1E1B4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Single-Agent</a:t>
            </a:r>
          </a:p>
          <a:p>
            <a:pPr algn="ctr">
              <a:defRPr sz="2400" b="1">
                <a:solidFill>
                  <a:srgbClr val="EF4444"/>
                </a:solidFill>
              </a:defRPr>
            </a:pPr>
            <a:r>
              <a:t>MUTATED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371600"/>
            <a:ext cx="3931920" cy="1371600"/>
          </a:xfrm>
          <a:prstGeom prst="roundRect">
            <a:avLst/>
          </a:prstGeom>
          <a:solidFill>
            <a:srgbClr val="1E1B4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Multi-Agent</a:t>
            </a:r>
          </a:p>
          <a:p>
            <a:pPr algn="ctr">
              <a:defRPr sz="2400" b="1">
                <a:solidFill>
                  <a:srgbClr val="EF4444"/>
                </a:solidFill>
              </a:defRPr>
            </a:pPr>
            <a:r>
              <a:t>MUTATED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017520"/>
            <a:ext cx="822960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Key Insight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Both agreed on MUTATED, but multi-agent provided severity gradation: 'after March 1996' is LOW severity (acceptable paraphrase), while '1.8 million sold' is HIGH severity (contradicts 1.5M in source). Defense explicitly CONCEDED the numerical inflation point.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Multi-Agent Ensemble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Better Calibrated: Lower confidence when uncertain (ECE -50%)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Comprehensive Detection: 2.67× more mutation types found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Transparent Reasoning: Full debate transcript for audit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Handles Ambiguity: Uses 'uncertain' verdict appropriately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Adversarial Testing: Agents attack each other's blind spots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Inter-Agent Agreement Evolution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Round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Mean κ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 (Initial)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0.44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Moderate agreement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0.61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Substantial agreement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0.72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Substantial agreement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 (Final)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0.83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Almost perfect agreement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377440" cy="182880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50%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ECE Improvement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0.267 → 0.133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828800"/>
            <a:ext cx="2377440" cy="182880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2.67×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Recall Improvement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37.5% → 100%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2377440" cy="182880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κ = 0.83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Final Agreement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Almost Perfect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8229600" cy="1645920"/>
          </a:xfrm>
          <a:prstGeom prst="roundRect">
            <a:avLst/>
          </a:prstGeom>
          <a:solidFill>
            <a:srgbClr val="0F172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Key Takeaway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Multi-agent ensemble provides better calibrated confidence and transparent reasoning.</a:t>
            </a:r>
            <a:br/>
            <a:r>
              <a:t>For fact-checking, knowing when to say "uncertain" is as valuable as being correct.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400">
                <a:solidFill>
                  <a:srgbClr val="94A3B8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Kepler Team | github.com/Julia-Elisa/cambridge-dis-hackathon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